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https://www.rsb.ru/ - в шапке и навигации официального сайта есть входы в Для бизнеса, Страхование, Путешествия, Подарочные карты, Консьерж-сервис, Офисы и банкоматы, Интернет-банк; на главной есть кредитный калькулятор, новости, подписка и другие сервисные действия. Наблюдения основаны на официальной главной странице, просмотренной 2026-03-08.
- https://www.tbank.ru/ - в меню официального сайта Т-Банка представлены блоки Банк, Инвестиции, Страхование, Путешествия и City/Город-сервисы; просмотрено 2026-03-08.
- https://alfabank.ru/ - в верхней навигации и меню официального сайта Альфа-Банка представлены Карты, Накопления, Кредиты, Инвестиции, AI-помощник, семейные и travel-сценарии; просмотрено 2026-03-08.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32688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Корпоративный сайт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Банка «Русский Стандарт»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Концепция редизайна: банк как сервис для активной жизни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8892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81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/ UI / IA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658368" y="324612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31821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страница + раскрытое меню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359359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52958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визуализация и адаптивная логика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941064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387705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Структура презентации для защиты проекта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5010912"/>
            <a:ext cx="420624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2669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1424"/>
                </a:solidFill>
              </a:rPr>
              <a:t>Логика решения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" y="5513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</a:rPr>
              <a:t>Не «ещё один банк», а цифровой помощник для кредитов, карт, инвестиций, страховки и путешествий.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779008" y="658368"/>
            <a:ext cx="5468112" cy="5577840"/>
          </a:xfrm>
          <a:prstGeom prst="roundRect">
            <a:avLst>
              <a:gd name="adj" fmla="val 3679"/>
            </a:avLst>
          </a:prstGeom>
          <a:solidFill>
            <a:srgbClr val="FCFCFB"/>
          </a:solidFill>
          <a:ln w="12700">
            <a:solidFill>
              <a:srgbClr val="DDD8D1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9008" y="658368"/>
            <a:ext cx="5468112" cy="329184"/>
          </a:xfrm>
          <a:prstGeom prst="rect">
            <a:avLst/>
          </a:prstGeom>
          <a:solidFill>
            <a:srgbClr val="F2F0EC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768096"/>
            <a:ext cx="73152" cy="73152"/>
          </a:xfrm>
          <a:prstGeom prst="ellipse">
            <a:avLst/>
          </a:prstGeom>
          <a:solidFill>
            <a:srgbClr val="E86B77"/>
          </a:solidFill>
          <a:ln w="12700">
            <a:solidFill>
              <a:srgbClr val="E86B7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048" y="768096"/>
            <a:ext cx="73152" cy="7315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768096"/>
            <a:ext cx="73152" cy="73152"/>
          </a:xfrm>
          <a:prstGeom prst="ellipse">
            <a:avLst/>
          </a:prstGeom>
          <a:solidFill>
            <a:srgbClr val="6ACB7F"/>
          </a:solidFill>
          <a:ln w="12700">
            <a:solidFill>
              <a:srgbClr val="6ACB7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607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D3C"/>
                </a:solidFill>
              </a:rPr>
              <a:t>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10789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Кредиты   Карты   Инвестиции   Страхование   Путешествия   Офисы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875520" y="1051560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5832" y="111099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943600" y="1389888"/>
            <a:ext cx="5166360" cy="1627632"/>
          </a:xfrm>
          <a:prstGeom prst="roundRect">
            <a:avLst>
              <a:gd name="adj" fmla="val 13483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783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Банк как сервис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для жизни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099048" y="25054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6D7DC"/>
                </a:solidFill>
              </a:rPr>
              <a:t>Показываем продукты через сценарии: траты, планы, накопления, поездки.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236208" y="265176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26974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Подобрать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9372600" y="1664208"/>
            <a:ext cx="1325880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0616" y="1773936"/>
            <a:ext cx="556870" cy="201168"/>
          </a:xfrm>
          <a:prstGeom prst="roundRect">
            <a:avLst>
              <a:gd name="adj" fmla="val 45455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18904" y="1837944"/>
            <a:ext cx="52029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</a:rPr>
              <a:t>CARD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9500616" y="200253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Карта с кешбеком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500616" y="215798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покупки и кэшбек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0826496" y="1664208"/>
            <a:ext cx="1325880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4512" y="1773936"/>
            <a:ext cx="556870" cy="201168"/>
          </a:xfrm>
          <a:prstGeom prst="roundRect">
            <a:avLst>
              <a:gd name="adj" fmla="val 45455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0" y="1837944"/>
            <a:ext cx="52029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</a:rPr>
              <a:t>TRAVEL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0954512" y="2002536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Travel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0954512" y="215798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билеты и отели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943600" y="3273552"/>
            <a:ext cx="1499616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9904" y="35295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B2F36"/>
                </a:solidFill>
              </a:rPr>
              <a:t>Продукты видно сразу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7644384" y="3273552"/>
            <a:ext cx="1499616" cy="749808"/>
          </a:xfrm>
          <a:prstGeom prst="roundRect">
            <a:avLst>
              <a:gd name="adj" fmla="val 19512"/>
            </a:avLst>
          </a:prstGeom>
          <a:solidFill>
            <a:srgbClr val="EEF3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90688" y="35295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B2F36"/>
                </a:solidFill>
              </a:rPr>
              <a:t>Сервисы не спорят с продажей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9345168" y="3273552"/>
            <a:ext cx="1499616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1472" y="35295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B2F36"/>
                </a:solidFill>
              </a:rPr>
              <a:t>Стиль не устареет быстро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5943600" y="4334256"/>
            <a:ext cx="111556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71616" y="4443984"/>
            <a:ext cx="468539" cy="201168"/>
          </a:xfrm>
          <a:prstGeom prst="roundRect">
            <a:avLst>
              <a:gd name="adj" fmla="val 45455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9904" y="4507992"/>
            <a:ext cx="4319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111"/>
                </a:solidFill>
              </a:rPr>
              <a:t>LOAN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6071616" y="467258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Кредит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6071616" y="482803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до 3 млн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7242048" y="4334256"/>
            <a:ext cx="111556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70064" y="4443984"/>
            <a:ext cx="468539" cy="201168"/>
          </a:xfrm>
          <a:prstGeom prst="roundRect">
            <a:avLst>
              <a:gd name="adj" fmla="val 45455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4507992"/>
            <a:ext cx="4319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111"/>
                </a:solidFill>
              </a:rPr>
              <a:t>CARD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7370064" y="467258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Дебетовая карта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7370064" y="482803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кешбек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8540496" y="4334256"/>
            <a:ext cx="111556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68512" y="4443984"/>
            <a:ext cx="468539" cy="201168"/>
          </a:xfrm>
          <a:prstGeom prst="roundRect">
            <a:avLst>
              <a:gd name="adj" fmla="val 45455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0" y="4507992"/>
            <a:ext cx="4319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111"/>
                </a:solidFill>
              </a:rPr>
              <a:t>INV</a:t>
            </a:r>
            <a:endParaRPr lang="en-US" sz="660" dirty="0"/>
          </a:p>
        </p:txBody>
      </p:sp>
      <p:sp>
        <p:nvSpPr>
          <p:cNvPr id="59" name="Text 57"/>
          <p:cNvSpPr/>
          <p:nvPr/>
        </p:nvSpPr>
        <p:spPr>
          <a:xfrm>
            <a:off x="8668512" y="467258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Инвестиции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8668512" y="482803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стратегии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9838944" y="4334256"/>
            <a:ext cx="111556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66960" y="4443984"/>
            <a:ext cx="468539" cy="201168"/>
          </a:xfrm>
          <a:prstGeom prst="roundRect">
            <a:avLst>
              <a:gd name="adj" fmla="val 45455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85248" y="4507992"/>
            <a:ext cx="431963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111"/>
                </a:solidFill>
              </a:rPr>
              <a:t>SAFE</a:t>
            </a:r>
            <a:endParaRPr lang="en-US" sz="660" dirty="0"/>
          </a:p>
        </p:txBody>
      </p:sp>
      <p:sp>
        <p:nvSpPr>
          <p:cNvPr id="64" name="Text 62"/>
          <p:cNvSpPr/>
          <p:nvPr/>
        </p:nvSpPr>
        <p:spPr>
          <a:xfrm>
            <a:off x="9966960" y="467258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Страхование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9966960" y="482803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полис за 2 мин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5943600" y="5468112"/>
            <a:ext cx="2542032" cy="402336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13648" y="5468112"/>
            <a:ext cx="2487168" cy="402336"/>
          </a:xfrm>
          <a:prstGeom prst="roundRect">
            <a:avLst>
              <a:gd name="adj" fmla="val 31818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81344" y="5596128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2B2F36"/>
                </a:solidFill>
              </a:rPr>
              <a:t>Калькулятор и карта офисов</a:t>
            </a:r>
            <a:endParaRPr lang="en-US" sz="760" dirty="0"/>
          </a:p>
        </p:txBody>
      </p:sp>
      <p:sp>
        <p:nvSpPr>
          <p:cNvPr id="69" name="Text 67"/>
          <p:cNvSpPr/>
          <p:nvPr/>
        </p:nvSpPr>
        <p:spPr>
          <a:xfrm>
            <a:off x="8851392" y="5596128"/>
            <a:ext cx="15727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81424"/>
                </a:solidFill>
              </a:rPr>
              <a:t>Подписка на спецпредложения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Задача и рамки проекта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Преобразовать главную страницу из набора разрозненных сервисов в понятную продуктовую витрину и удобный digital-сервис.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611880" cy="448056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98848" y="1737360"/>
            <a:ext cx="3611880" cy="448056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241935000" dist="129032000" dir="162000000000">
              <a:srgbClr val="000000">
                <a:alpha val="8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39328" y="1737360"/>
            <a:ext cx="3154680" cy="4480560"/>
          </a:xfrm>
          <a:prstGeom prst="roundRect">
            <a:avLst>
              <a:gd name="adj" fmla="val 5217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  <a:effectLst>
            <a:outerShdw sx="100000" sy="100000" kx="0" ky="0" algn="bl" rotWithShape="0" blurRad="3072574500000" dist="16387064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ПРОБЛЕМЫ СЕЙЧАС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Что нужно исправить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97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устаревшее визуальное впечатление и слабый фирменный характер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04495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сложная навигация и перегруженная главная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слабо продаёт и мало мотивирует оставить заявку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803904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73989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раскрывается роль банка как сервиса, а не только как банка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" y="4983480"/>
            <a:ext cx="3127248" cy="914400"/>
          </a:xfrm>
          <a:prstGeom prst="roundRect">
            <a:avLst>
              <a:gd name="adj" fmla="val 16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2578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1424"/>
                </a:solidFill>
              </a:rPr>
              <a:t>Фокус UX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54681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</a:rPr>
              <a:t>Сократить шум, усилить сценарии выбора и быстро показать ценность продуктов.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736592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ПРОДУКТЫ И АУДИТОРИЯ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2267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На чём строится новая главная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69748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потребительские кредиты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04495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дебетовые и кредитные карты с кешбеком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39242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инвестиционные продукты и стратегии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803904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73989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страховые продукты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151376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0873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travel-сервисы: билеты, отели, туры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36592" y="4754880"/>
            <a:ext cx="3127248" cy="1143000"/>
          </a:xfrm>
          <a:prstGeom prst="roundRect">
            <a:avLst>
              <a:gd name="adj" fmla="val 128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500176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04C7D"/>
                </a:solidFill>
              </a:rPr>
              <a:t>Основная аудитория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5230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</a:rPr>
              <a:t>Мужчины и женщины 25-45 лет, крупные города, средний и выше среднего доход, активный образ жизни.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8577072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ДИЗАЙН-ОТВЕТ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77072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Как должен ощущаться сайт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778240" y="2761488"/>
            <a:ext cx="91440" cy="91440"/>
          </a:xfrm>
          <a:prstGeom prst="ellipse">
            <a:avLst/>
          </a:prstGeom>
          <a:solidFill>
            <a:srgbClr val="F7A4AE"/>
          </a:solidFill>
          <a:ln w="12700">
            <a:solidFill>
              <a:srgbClr val="F7A4A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33688" y="269748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технологичный, но не холодный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778240" y="3108960"/>
            <a:ext cx="91440" cy="91440"/>
          </a:xfrm>
          <a:prstGeom prst="ellipse">
            <a:avLst/>
          </a:prstGeom>
          <a:solidFill>
            <a:srgbClr val="F7A4AE"/>
          </a:solidFill>
          <a:ln w="12700">
            <a:solidFill>
              <a:srgbClr val="F7A4A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33688" y="30449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дружелюбный, но без мультяшности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778240" y="3456432"/>
            <a:ext cx="91440" cy="91440"/>
          </a:xfrm>
          <a:prstGeom prst="ellipse">
            <a:avLst/>
          </a:prstGeom>
          <a:solidFill>
            <a:srgbClr val="F7A4AE"/>
          </a:solidFill>
          <a:ln w="12700">
            <a:solidFill>
              <a:srgbClr val="F7A4A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33688" y="33924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смелый, но легко масштабируемый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778240" y="3803904"/>
            <a:ext cx="91440" cy="91440"/>
          </a:xfrm>
          <a:prstGeom prst="ellipse">
            <a:avLst/>
          </a:prstGeom>
          <a:solidFill>
            <a:srgbClr val="F7A4AE"/>
          </a:solidFill>
          <a:ln w="12700">
            <a:solidFill>
              <a:srgbClr val="F7A4A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33688" y="373989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современный, но не похожий на Т-Банк или Сбер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577072" y="4892040"/>
            <a:ext cx="2697480" cy="822960"/>
          </a:xfrm>
          <a:prstGeom prst="roundRect">
            <a:avLst>
              <a:gd name="adj" fmla="val 17778"/>
            </a:avLst>
          </a:prstGeom>
          <a:solidFill>
            <a:srgbClr val="313A49"/>
          </a:solidFill>
          <a:ln w="12700">
            <a:solidFill>
              <a:srgbClr val="313A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0" y="51480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7C8CF"/>
                </a:solidFill>
              </a:rPr>
              <a:t>Ключевая идея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8778240" y="5376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«Банк как сервис для планирования и обустройства жизни».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Исследование: что видно по текущему сайту и конкурентам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Ключевой вывод: нужно собрать продукты и lifestyle-сервисы в одну систему, а не оставлять их разрозненными входами.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539496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39021696150000000" dist="20811571280000000" dir="583200000000000000000">
              <a:srgbClr val="000000">
                <a:alpha val="800000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91072" y="1783080"/>
            <a:ext cx="5239512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495575541105000000000" dist="264306955256000000000" dir="3.4992e+25">
              <a:srgbClr val="000000">
                <a:alpha val="8e+2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029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АУДИТ ТЕКУЩЕГО САЙТА РСБ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2286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Сильные стороны и проблемы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69748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шапке уже есть входы в страхование, travel, подарочные карты, офисы и интернет-банк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04495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главной уже есть кредитный калькулятор, новости, подписка и отдельные сервисные действия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92424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этом продажи продуктов и утилитарные сервисы конкурируют за внимание на одном уровне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3803904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739896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инвестиции и часть небанковских сервисов раскрыты слабо и не собираются в единый бренд-опыт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96112" y="4443984"/>
            <a:ext cx="4882896" cy="1298448"/>
          </a:xfrm>
          <a:prstGeom prst="roundRect">
            <a:avLst>
              <a:gd name="adj" fmla="val 12676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908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1424"/>
                </a:solidFill>
              </a:rPr>
              <a:t>Главная UX-проблема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4956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</a:rPr>
              <a:t>Сейчас сайт выглядит не как единый сервис, а как набор разных задач и ссылок. Из-за этого теряется фокус на ключевых продуктах и ощущение современности.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28816" y="2029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КОНКУРЕНТНЫЕ СИГНАЛЫ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28816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Что делают сильные игроки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28816" y="2706624"/>
            <a:ext cx="2331720" cy="2267712"/>
          </a:xfrm>
          <a:prstGeom prst="roundRect">
            <a:avLst>
              <a:gd name="adj" fmla="val 645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290779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4C7D"/>
                </a:solidFill>
              </a:rPr>
              <a:t>Т-Банк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11696" y="3282696"/>
            <a:ext cx="91440" cy="91440"/>
          </a:xfrm>
          <a:prstGeom prst="ellipse">
            <a:avLst/>
          </a:prstGeom>
          <a:solidFill>
            <a:srgbClr val="304C7D"/>
          </a:solidFill>
          <a:ln w="12700">
            <a:solidFill>
              <a:srgbClr val="304C7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321868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04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объединяет банк, инвестиции, страхование, travel и city-сервисы в одной экосистеме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711696" y="3630168"/>
            <a:ext cx="91440" cy="91440"/>
          </a:xfrm>
          <a:prstGeom prst="ellipse">
            <a:avLst/>
          </a:prstGeom>
          <a:solidFill>
            <a:srgbClr val="304C7D"/>
          </a:solidFill>
          <a:ln w="12700">
            <a:solidFill>
              <a:srgbClr val="304C7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356616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04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показывает не только продукты, но и lifestyle-сценарии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089136" y="2706624"/>
            <a:ext cx="2194560" cy="2267712"/>
          </a:xfrm>
          <a:prstGeom prst="roundRect">
            <a:avLst>
              <a:gd name="adj" fmla="val 6667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0304" y="29077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A2B"/>
                </a:solidFill>
              </a:rPr>
              <a:t>Альфа-Банк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72016" y="3282696"/>
            <a:ext cx="91440" cy="91440"/>
          </a:xfrm>
          <a:prstGeom prst="ellipse">
            <a:avLst/>
          </a:prstGeom>
          <a:solidFill>
            <a:srgbClr val="B57A36"/>
          </a:solidFill>
          <a:ln w="12700">
            <a:solidFill>
              <a:srgbClr val="B57A3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27464" y="32186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A5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 плотное, но структурированное меню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272016" y="3630168"/>
            <a:ext cx="91440" cy="91440"/>
          </a:xfrm>
          <a:prstGeom prst="ellipse">
            <a:avLst/>
          </a:prstGeom>
          <a:solidFill>
            <a:srgbClr val="B57A36"/>
          </a:solidFill>
          <a:ln w="12700">
            <a:solidFill>
              <a:srgbClr val="B57A3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27464" y="35661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A5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связывает карты, накопления, инвестиции, travel и семейные сценарии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528816" y="5230368"/>
            <a:ext cx="4736592" cy="749808"/>
          </a:xfrm>
          <a:prstGeom prst="roundRect">
            <a:avLst>
              <a:gd name="adj" fmla="val 19512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546811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8CF"/>
                </a:solidFill>
              </a:rPr>
              <a:t>Ниша для Русского Стандарта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48272" y="569671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</a:rPr>
              <a:t>Спокойнее и взрослее, чем Т-Банк; легче и технологичнее, чем классический банковский интерфейс. Опора на редакционный минимализм и сервисные сценарии.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Аудитория и ключевые пользовательские сценарии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должна быстро ответить на три вопроса: что здесь можно сделать, почему это выгодно и как начать прямо сейчас.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6.2938093720335e+24" dist="3.3566983317512e+24" dir="2.09952e+30">
              <a:srgbClr val="000000">
                <a:alpha val="8e+2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0" y="173736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7.993137902482545e+28" dist="4.2630068813240235e+28" dir="1.259712e+35">
              <a:srgbClr val="000000">
                <a:alpha val="8e+3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02752" y="1737360"/>
            <a:ext cx="3246120" cy="448056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.0151285136152831e+33" dist="5.4140187392815096e+32" dir="7.558272e+39">
              <a:srgbClr val="000000">
                <a:alpha val="8e+38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СЕГМЕНТ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Городской профессионал 28-35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9748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ценит скорость и понятную выгоду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04495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часто переключается между картой, кредитом, накоплениями и travel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39242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нуждается в ясной витрине продуктов без лишнего банковского языка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" y="4882896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2978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04C7D"/>
                </a:solidFill>
              </a:rPr>
              <a:t>JTBD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1097280" y="5358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</a:rPr>
              <a:t>«Хочу быстро увидеть выгоду и подобрать продукт под свою текущую задачу».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718304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СЕГМЕНТ 02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Семейный планировщик 32-45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4736592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69748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смотрит на надёжность, удобство и совмещение нескольких задач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36592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449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интересуется кредитом, картой с кешбеком, страхованием и поездками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36592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9242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 видеть офисы, контакты, поддержку и конкретные условия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18304" y="4882896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512978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8B5A2B"/>
                </a:solidFill>
              </a:rPr>
              <a:t>JTBD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4919472" y="5358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</a:rPr>
              <a:t>«Хочу решить несколько бытовых и финансовых задач в одном понятном сервисе».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540496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СЕГМЕНТ 03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40496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Активный исследователь 25-40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8558784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14232" y="26974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охотнее пробует новые сервисы и стратегии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58784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14232" y="30449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интересуется инвестициями и travel-продуктами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58784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14232" y="339242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хочет “пощупать” продукт через интерфейс ещё до оформления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40496" y="4882896"/>
            <a:ext cx="2743200" cy="841248"/>
          </a:xfrm>
          <a:prstGeom prst="roundRect">
            <a:avLst>
              <a:gd name="adj" fmla="val 17391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41664" y="512978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A81424"/>
                </a:solidFill>
              </a:rPr>
              <a:t>JTBD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8741664" y="53583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</a:rPr>
              <a:t>«Хочу понять, что банк помогает не только с деньгами, но и со стилем жизни».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Концепция и визуальная система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Выбран не мультяшный и не “агрессивно финтеховый” подход, а редакционный минимализм с сервисной подачей продуктов.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457200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.2892132122914095e+37" dist="6.875803798887517e+36" dir="4.5349632000000006e+44">
              <a:srgbClr val="000000">
                <a:alpha val="8e+4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40680" y="1737360"/>
            <a:ext cx="27432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.6373007796100902e+41" dist="8.732270824587147e+40" dir="2.72097792e+49">
              <a:srgbClr val="000000">
                <a:alpha val="8e+4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94192" y="1737360"/>
            <a:ext cx="3154680" cy="4526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2.0793719901048145e+45" dist="1.1089983947225676e+45" dir="1.6325867520000003e+54">
              <a:srgbClr val="000000">
                <a:alpha val="8e+5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КОНЦЕПЦИЯ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Банк как сервис для активной жизни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761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974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продукты показываются через сценарии пользователя, а не только через тарифы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04495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остаётся лидогенерирующей, но даёт ощущение современной платформы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456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392424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интерфейсе нет мультяшных персонажей и быстрой устаревающей 3D-эстетики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803904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739896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визуальный язык легко масштабируется на новые продукты и спецпроекты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6112" y="4754880"/>
            <a:ext cx="4078224" cy="1143000"/>
          </a:xfrm>
          <a:prstGeom prst="roundRect">
            <a:avLst>
              <a:gd name="adj" fmla="val 12800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01091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7C8CF"/>
                </a:solidFill>
              </a:rPr>
              <a:t>4 принципа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097280" y="52486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1) технологичность можно “потрогать”  2) дружелюбие без инфантилизма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3) чёткая иерархия  4) единая система карточек и CTA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5678424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ПАЛИТРА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87568" y="233172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243230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Акцент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687568" y="283464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93522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Графит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687568" y="333756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43814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Фон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687568" y="384048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394106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Rose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687568" y="434340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444398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Mist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687568" y="484632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946904"/>
            <a:ext cx="1371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Mint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5687568" y="544982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Типографика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87568" y="5669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Крупные заголовки + спокойный UI-текст. Контраст строится на масштабе и ритме, а не на перегрузе эффектами.</a:t>
            </a:r>
            <a:endParaRPr lang="en-US" sz="890" dirty="0"/>
          </a:p>
        </p:txBody>
      </p:sp>
      <p:sp>
        <p:nvSpPr>
          <p:cNvPr id="38" name="Text 36"/>
          <p:cNvSpPr/>
          <p:nvPr/>
        </p:nvSpPr>
        <p:spPr>
          <a:xfrm>
            <a:off x="8631936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ПРИНЦИПЫ UI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31936" y="2340864"/>
            <a:ext cx="1325880" cy="603504"/>
          </a:xfrm>
          <a:prstGeom prst="roundRect">
            <a:avLst>
              <a:gd name="adj" fmla="val 21212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59952" y="254203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F36"/>
                </a:solidFill>
              </a:rPr>
              <a:t>Слоистые карточки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10094976" y="2340864"/>
            <a:ext cx="1325880" cy="603504"/>
          </a:xfrm>
          <a:prstGeom prst="roundRect">
            <a:avLst>
              <a:gd name="adj" fmla="val 212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22992" y="254203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F36"/>
                </a:solidFill>
              </a:rPr>
              <a:t>Крупные промо-блоки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631936" y="3145536"/>
            <a:ext cx="1325880" cy="603504"/>
          </a:xfrm>
          <a:prstGeom prst="roundRect">
            <a:avLst>
              <a:gd name="adj" fmla="val 21212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59952" y="334670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F36"/>
                </a:solidFill>
              </a:rPr>
              <a:t>Понятные CTA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10094976" y="3145536"/>
            <a:ext cx="1325880" cy="603504"/>
          </a:xfrm>
          <a:prstGeom prst="roundRect">
            <a:avLst>
              <a:gd name="adj" fmla="val 21212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22992" y="334670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F36"/>
                </a:solidFill>
              </a:rPr>
              <a:t>Единый радиус и сетка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8631936" y="3950208"/>
            <a:ext cx="1325880" cy="603504"/>
          </a:xfrm>
          <a:prstGeom prst="roundRect">
            <a:avLst>
              <a:gd name="adj" fmla="val 2121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59952" y="415137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F36"/>
                </a:solidFill>
              </a:rPr>
              <a:t>Инфо-блок “мы изменились”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10094976" y="3950208"/>
            <a:ext cx="1325880" cy="603504"/>
          </a:xfrm>
          <a:prstGeom prst="roundRect">
            <a:avLst>
              <a:gd name="adj" fmla="val 21212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22992" y="415137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F36"/>
                </a:solidFill>
              </a:rPr>
              <a:t>Сервисные сценарии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8631936" y="5413248"/>
            <a:ext cx="2697480" cy="50292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33104" y="5586984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Сетка: desktop 12 col / tablet 8 col / mobile 4 col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Информационная архитектура и логика раскрытого меню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Меню должно стать не списком ссылок, а быстрым маршрутизатором по продуктам, сервисам и сценариям.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1097280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2.640802427433114e+49" dist="1.408427961297661e+49" dir="9.795520512000002e+58">
              <a:srgbClr val="000000">
                <a:alpha val="8e+5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0299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Предлагаемая верхняя навигация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Кредиты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212848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Карты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3529584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DECE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Инвестиции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846320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Страхование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163056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4EDE5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Путешествия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479792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Сервисы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796528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Офисы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10113264" y="2359152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04704" y="2459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B2F36"/>
                </a:solidFill>
              </a:rPr>
              <a:t>Поддержка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11045952" y="2359152"/>
            <a:ext cx="585216" cy="292608"/>
          </a:xfrm>
          <a:prstGeom prst="roundRect">
            <a:avLst>
              <a:gd name="adj" fmla="val 3125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2459736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96112" y="2944368"/>
            <a:ext cx="7315200" cy="2743200"/>
          </a:xfrm>
          <a:prstGeom prst="roundRect">
            <a:avLst>
              <a:gd name="adj" fmla="val 7333"/>
            </a:avLst>
          </a:prstGeom>
          <a:solidFill>
            <a:srgbClr val="FCFCFB"/>
          </a:solidFill>
          <a:ln w="12700">
            <a:solidFill>
              <a:srgbClr val="DDD8D1"/>
            </a:solidFill>
            <a:prstDash val="solid"/>
          </a:ln>
          <a:effectLst>
            <a:outerShdw sx="100000" sy="100000" kx="0" ky="0" algn="bl" rotWithShape="0" blurRad="241935000" dist="129032000" dir="162000000000">
              <a:srgbClr val="000000">
                <a:alpha val="16000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" y="2944368"/>
            <a:ext cx="7315200" cy="329184"/>
          </a:xfrm>
          <a:prstGeom prst="rect">
            <a:avLst/>
          </a:prstGeom>
          <a:solidFill>
            <a:srgbClr val="F2F0EC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0704" y="3054096"/>
            <a:ext cx="73152" cy="73152"/>
          </a:xfrm>
          <a:prstGeom prst="ellipse">
            <a:avLst/>
          </a:prstGeom>
          <a:solidFill>
            <a:srgbClr val="E86B77"/>
          </a:solidFill>
          <a:ln w="12700">
            <a:solidFill>
              <a:srgbClr val="E86B7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6152" y="3054096"/>
            <a:ext cx="73152" cy="7315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3054096"/>
            <a:ext cx="73152" cy="73152"/>
          </a:xfrm>
          <a:prstGeom prst="ellipse">
            <a:avLst/>
          </a:prstGeom>
          <a:solidFill>
            <a:srgbClr val="6ACB7F"/>
          </a:solidFill>
          <a:ln w="12700">
            <a:solidFill>
              <a:srgbClr val="6ACB7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026664"/>
            <a:ext cx="6766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rsb.ru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060704" y="33284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D3C"/>
                </a:solidFill>
              </a:rPr>
              <a:t>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792224" y="3346704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Кредиты   Карты   Инвестиции   Страхование   Путешествия   Офисы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812280" y="3319272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378708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097280" y="3657600"/>
            <a:ext cx="6912864" cy="1810512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3072574500000" dist="1638706400000" dir="9720000000000000">
              <a:srgbClr val="000000">
                <a:alpha val="1600000000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61872" y="3895344"/>
            <a:ext cx="1588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Карты и платежи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261872" y="4169664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Дебетовые карты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1261872" y="4389120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Кредитные карты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1261872" y="4608576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Платежи и переводы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1261872" y="4828032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RS Cashback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2923794" y="3895344"/>
            <a:ext cx="1588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Кредиты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23794" y="4169664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Кредит наличными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2923794" y="4389120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Под залог недвижимости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2923794" y="4608576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Кредитный калькулятор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2923794" y="4828032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Рефинансирование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4585716" y="3895344"/>
            <a:ext cx="1588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Инвестиции и накопления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85716" y="4169664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Накопительные счета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4585716" y="4389120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Вклады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4585716" y="4608576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Стратегии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4585716" y="4828032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Ценные бумаги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6247638" y="3895344"/>
            <a:ext cx="1588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Страхование и travel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47638" y="4169664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Страхование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6247638" y="4389120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Билеты и отели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6247638" y="4608576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Туры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6247638" y="4828032"/>
            <a:ext cx="15430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Привилегии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6108192" y="3858768"/>
            <a:ext cx="1600200" cy="1316736"/>
          </a:xfrm>
          <a:prstGeom prst="roundRect">
            <a:avLst>
              <a:gd name="adj" fmla="val 13889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54496" y="382219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45936" y="386791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81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254496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Сценарий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для поездки</a:t>
            </a:r>
            <a:endParaRPr lang="en-US" sz="1060" dirty="0"/>
          </a:p>
        </p:txBody>
      </p:sp>
      <p:sp>
        <p:nvSpPr>
          <p:cNvPr id="62" name="Text 60"/>
          <p:cNvSpPr/>
          <p:nvPr/>
        </p:nvSpPr>
        <p:spPr>
          <a:xfrm>
            <a:off x="6254496" y="44988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7DC"/>
                </a:solidFill>
              </a:rPr>
              <a:t>Карта + travel + страховка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254496" y="4718304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64224" y="4759452"/>
            <a:ext cx="69494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Подобрать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485632" y="2944368"/>
            <a:ext cx="2926080" cy="2743200"/>
          </a:xfrm>
          <a:prstGeom prst="roundRect">
            <a:avLst>
              <a:gd name="adj" fmla="val 5333"/>
            </a:avLst>
          </a:prstGeom>
          <a:solidFill>
            <a:srgbClr val="F6F5F2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05088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ПРАВИЛА МЕНЮ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723376" y="3557016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78824" y="349300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4 основных колонок + одна промо-карточка</a:t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8723376" y="39044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78824" y="384048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вверху — продуктовые категории, ниже — быстрые действия</a:t>
            </a:r>
            <a:endParaRPr lang="en-US" sz="980" dirty="0"/>
          </a:p>
        </p:txBody>
      </p:sp>
      <p:sp>
        <p:nvSpPr>
          <p:cNvPr id="71" name="Shape 69"/>
          <p:cNvSpPr/>
          <p:nvPr/>
        </p:nvSpPr>
        <p:spPr>
          <a:xfrm>
            <a:off x="8723376" y="42519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78824" y="41879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логин и CTA всегда видимы</a:t>
            </a:r>
            <a:endParaRPr lang="en-US" sz="980" dirty="0"/>
          </a:p>
        </p:txBody>
      </p:sp>
      <p:sp>
        <p:nvSpPr>
          <p:cNvPr id="73" name="Shape 71"/>
          <p:cNvSpPr/>
          <p:nvPr/>
        </p:nvSpPr>
        <p:spPr>
          <a:xfrm>
            <a:off x="8723376" y="45994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78824" y="45354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каждая категория ведёт не в “архив страниц”, а в понятную подборку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8723376" y="4946904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878824" y="488289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mobile — аккордеон с приоритетом на CTA и частые сценарии</a:t>
            </a:r>
            <a:endParaRPr lang="en-US" sz="980" dirty="0"/>
          </a:p>
        </p:txBody>
      </p:sp>
      <p:sp>
        <p:nvSpPr>
          <p:cNvPr id="77" name="Shape 75"/>
          <p:cNvSpPr/>
          <p:nvPr/>
        </p:nvSpPr>
        <p:spPr>
          <a:xfrm>
            <a:off x="8705088" y="5285232"/>
            <a:ext cx="2487168" cy="310896"/>
          </a:xfrm>
          <a:prstGeom prst="roundRect">
            <a:avLst>
              <a:gd name="adj" fmla="val 29412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87968" y="5394960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</a:rPr>
              <a:t>Результат: проще найти продукт и быстрее перейти к оформлению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Прототип: главная страница (desktop)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Ниже — каркас главной. Он закрывает обязательные блоки брифа и задаёт порядок, в котором пользователь принимает решение.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19072"/>
            <a:ext cx="10789920" cy="4892040"/>
          </a:xfrm>
          <a:prstGeom prst="roundRect">
            <a:avLst>
              <a:gd name="adj" fmla="val 4112"/>
            </a:avLst>
          </a:prstGeom>
          <a:solidFill>
            <a:srgbClr val="FBFBFB"/>
          </a:solidFill>
          <a:ln w="12700">
            <a:solidFill>
              <a:srgbClr val="DDD8D1"/>
            </a:solidFill>
            <a:prstDash val="solid"/>
          </a:ln>
          <a:effectLst>
            <a:outerShdw sx="100000" sy="100000" kx="0" ky="0" algn="bl" rotWithShape="0" blurRad="39021696150000000" dist="20811571280000000" dir="583200000000000000000">
              <a:srgbClr val="000000">
                <a:alpha val="1600000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19072"/>
            <a:ext cx="10789920" cy="329184"/>
          </a:xfrm>
          <a:prstGeom prst="rect">
            <a:avLst/>
          </a:prstGeom>
          <a:solidFill>
            <a:srgbClr val="F2F0EC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828800"/>
            <a:ext cx="73152" cy="73152"/>
          </a:xfrm>
          <a:prstGeom prst="ellipse">
            <a:avLst/>
          </a:prstGeom>
          <a:solidFill>
            <a:srgbClr val="E86B77"/>
          </a:solidFill>
          <a:ln w="12700">
            <a:solidFill>
              <a:srgbClr val="E86B7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28800"/>
            <a:ext cx="73152" cy="7315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828800"/>
            <a:ext cx="73152" cy="73152"/>
          </a:xfrm>
          <a:prstGeom prst="ellipse">
            <a:avLst/>
          </a:prstGeom>
          <a:solidFill>
            <a:srgbClr val="6ACB7F"/>
          </a:solidFill>
          <a:ln w="12700">
            <a:solidFill>
              <a:srgbClr val="6ACB7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214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D3C"/>
                </a:solidFill>
              </a:rPr>
              <a:t>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27632" y="213969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Кредиты   Карты   Инвестиции   Страхование   Путешествия   Офисы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10085832" y="211226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96144" y="217170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10387584" cy="960120"/>
          </a:xfrm>
          <a:prstGeom prst="roundRect">
            <a:avLst>
              <a:gd name="adj" fmla="val 20952"/>
            </a:avLst>
          </a:prstGeom>
          <a:solidFill>
            <a:srgbClr val="F0F0F0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28529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7B7B7B"/>
                </a:solidFill>
              </a:rPr>
              <a:t>Hero / key offer / CTA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961120" y="2633472"/>
            <a:ext cx="987552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1552" y="2633472"/>
            <a:ext cx="987552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89136" y="27797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58585"/>
                </a:solidFill>
              </a:rPr>
              <a:t>featured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858585"/>
                </a:solidFill>
              </a:rPr>
              <a:t>products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0259568" y="27797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58585"/>
                </a:solidFill>
              </a:rPr>
              <a:t>service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858585"/>
                </a:solidFill>
              </a:rPr>
              <a:t>entry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50976" y="3547872"/>
            <a:ext cx="10314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</a:rPr>
              <a:t>Block: why we changed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0976" y="3712464"/>
            <a:ext cx="3279648" cy="384048"/>
          </a:xfrm>
          <a:prstGeom prst="roundRect">
            <a:avLst>
              <a:gd name="adj" fmla="val 3333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3840480"/>
            <a:ext cx="3236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A7A7A"/>
                </a:solidFill>
              </a:rPr>
              <a:t>reason 1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309872" y="3712464"/>
            <a:ext cx="3279648" cy="384048"/>
          </a:xfrm>
          <a:prstGeom prst="roundRect">
            <a:avLst>
              <a:gd name="adj" fmla="val 3333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9600" y="3840480"/>
            <a:ext cx="3236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A7A7A"/>
                </a:solidFill>
              </a:rPr>
              <a:t>reason 2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7668768" y="3712464"/>
            <a:ext cx="3279648" cy="384048"/>
          </a:xfrm>
          <a:prstGeom prst="roundRect">
            <a:avLst>
              <a:gd name="adj" fmla="val 3333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8496" y="3840480"/>
            <a:ext cx="3236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A7A7A"/>
                </a:solidFill>
              </a:rPr>
              <a:t>reason 3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950976" y="422452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6666"/>
                </a:solidFill>
              </a:rPr>
              <a:t>Block: products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50976" y="4389120"/>
            <a:ext cx="245516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645152"/>
            <a:ext cx="21442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8888"/>
                </a:solidFill>
              </a:rPr>
              <a:t>product card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515868" y="4389120"/>
            <a:ext cx="245516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62172" y="4645152"/>
            <a:ext cx="21442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8888"/>
                </a:solidFill>
              </a:rPr>
              <a:t>product card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080760" y="4389120"/>
            <a:ext cx="245516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4645152"/>
            <a:ext cx="21442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8888"/>
                </a:solidFill>
              </a:rPr>
              <a:t>product card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645652" y="4389120"/>
            <a:ext cx="2455164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91956" y="4645152"/>
            <a:ext cx="21442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8888"/>
                </a:solidFill>
              </a:rPr>
              <a:t>product card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950976" y="51206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66666"/>
                </a:solidFill>
              </a:rPr>
              <a:t>Blocks: calculator + map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950976" y="5285232"/>
            <a:ext cx="5897514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39930" y="5285232"/>
            <a:ext cx="4179174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27632" y="55412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8A8A8A"/>
                </a:solidFill>
              </a:rPr>
              <a:t>calculator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7177674" y="5541264"/>
            <a:ext cx="395971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8A8A8A"/>
                </a:solidFill>
              </a:rPr>
              <a:t>map / offices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950976" y="5998464"/>
            <a:ext cx="6089904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0" y="5998464"/>
            <a:ext cx="3968496" cy="384048"/>
          </a:xfrm>
          <a:prstGeom prst="roundRect">
            <a:avLst>
              <a:gd name="adj" fmla="val 3333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613105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8A8A8A"/>
                </a:solidFill>
              </a:rPr>
              <a:t>news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7242048" y="61310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8A8A"/>
                </a:solidFill>
              </a:rPr>
              <a:t>subscribe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914400" y="6373368"/>
            <a:ext cx="10387584" cy="109728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18520" y="25968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91672" y="266090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11365992" y="26517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hero и ключевой оффер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11018520" y="36118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091672" y="367588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11365992" y="3666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блок “мы изменились”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11018520" y="44439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91672" y="450799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1365992" y="449884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популярные продукты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11018520" y="55778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91672" y="564184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11365992" y="56327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калькулятор + карта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11018520" y="61630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091672" y="622706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5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11365992" y="621792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новости, подписка, footer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Прототип: раскрытое меню и адаптация структуры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Поведение навигации меняется по устройствам, но логика разделов остаётся единой.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6949440" cy="4434840"/>
          </a:xfrm>
          <a:prstGeom prst="roundRect">
            <a:avLst>
              <a:gd name="adj" fmla="val 4536"/>
            </a:avLst>
          </a:prstGeom>
          <a:solidFill>
            <a:srgbClr val="FCFCFB"/>
          </a:solidFill>
          <a:ln w="12700">
            <a:solidFill>
              <a:srgbClr val="DDD8D1"/>
            </a:solidFill>
            <a:prstDash val="solid"/>
          </a:ln>
          <a:effectLst>
            <a:outerShdw sx="100000" sy="100000" kx="0" ky="0" algn="bl" rotWithShape="0" blurRad="495575541105000000000" dist="264306955256000000000" dir="3.4992e+25">
              <a:srgbClr val="000000">
                <a:alpha val="1.6e+2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83080"/>
            <a:ext cx="6949440" cy="329184"/>
          </a:xfrm>
          <a:prstGeom prst="rect">
            <a:avLst/>
          </a:prstGeom>
          <a:solidFill>
            <a:srgbClr val="F2F0EC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892808"/>
            <a:ext cx="73152" cy="73152"/>
          </a:xfrm>
          <a:prstGeom prst="ellipse">
            <a:avLst/>
          </a:prstGeom>
          <a:solidFill>
            <a:srgbClr val="E86B77"/>
          </a:solidFill>
          <a:ln w="12700">
            <a:solidFill>
              <a:srgbClr val="E86B7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92808"/>
            <a:ext cx="73152" cy="7315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892808"/>
            <a:ext cx="73152" cy="73152"/>
          </a:xfrm>
          <a:prstGeom prst="ellipse">
            <a:avLst/>
          </a:prstGeom>
          <a:solidFill>
            <a:srgbClr val="6ACB7F"/>
          </a:solidFill>
          <a:ln w="12700">
            <a:solidFill>
              <a:srgbClr val="6ACB7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865376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rsb.ru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77824" y="21671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D3C"/>
                </a:solidFill>
              </a:rPr>
              <a:t>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9344" y="2185416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Кредиты   Карты   Инвестиции   Страхование   Путешествия   Офисы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263640" y="215798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1742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2496312"/>
            <a:ext cx="6547104" cy="3502152"/>
          </a:xfrm>
          <a:prstGeom prst="roundRect">
            <a:avLst>
              <a:gd name="adj" fmla="val 5222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2734056"/>
            <a:ext cx="1497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</a:rPr>
              <a:t>Карты и платежи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8992" y="3008376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078992" y="3227832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1078992" y="3447288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078992" y="3666744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649474" y="2734056"/>
            <a:ext cx="1497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</a:rPr>
              <a:t>Кредиты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49474" y="3008376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2649474" y="3227832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649474" y="3447288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649474" y="3666744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219956" y="2734056"/>
            <a:ext cx="1497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</a:rPr>
              <a:t>Инвестиции и накопления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19956" y="3008376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219956" y="3227832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4219956" y="3447288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219956" y="3666744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790438" y="2734056"/>
            <a:ext cx="14973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</a:rPr>
              <a:t>Страхование и travel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90438" y="3008376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790438" y="3227832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790438" y="3447288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790438" y="3666744"/>
            <a:ext cx="14516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88888"/>
                </a:solidFill>
              </a:rPr>
              <a:t>item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5559552" y="2697480"/>
            <a:ext cx="1600200" cy="1316736"/>
          </a:xfrm>
          <a:prstGeom prst="roundRect">
            <a:avLst>
              <a:gd name="adj" fmla="val 13889"/>
            </a:avLst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3154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promo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card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73568" y="1783080"/>
            <a:ext cx="3547872" cy="443484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3.353819082840055e+53" dist="1.7887035108480293e+53" dir="5.877312307200001e+63">
              <a:srgbClr val="000000">
                <a:alpha val="7.999999999999999e+63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11312" y="2029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/ MOBILE ЛОГИКА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211312" y="2286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Как ведёт себя навигация на адаптивах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247888" y="2743200"/>
            <a:ext cx="1920240" cy="2651760"/>
          </a:xfrm>
          <a:prstGeom prst="roundRect">
            <a:avLst>
              <a:gd name="adj" fmla="val 10476"/>
            </a:avLst>
          </a:prstGeom>
          <a:solidFill>
            <a:srgbClr val="1A2130"/>
          </a:solidFill>
          <a:ln w="15240">
            <a:solidFill>
              <a:srgbClr val="1A2130"/>
            </a:solidFill>
            <a:prstDash val="solid"/>
          </a:ln>
          <a:effectLst>
            <a:outerShdw sx="100000" sy="100000" kx="0" ky="0" algn="bl" rotWithShape="0" blurRad="4.2593502352068695e+57" dist="2.271653458776997e+57" dir="3.526387384320001e+68">
              <a:srgbClr val="000000">
                <a:alpha val="7.999999999999999e+68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339328" y="2834640"/>
            <a:ext cx="1737360" cy="24688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24544" y="5449824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280"/>
                </a:solidFill>
              </a:rPr>
              <a:t>tablet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0442448" y="2743200"/>
            <a:ext cx="1188720" cy="2651760"/>
          </a:xfrm>
          <a:prstGeom prst="roundRect">
            <a:avLst>
              <a:gd name="adj" fmla="val 18462"/>
            </a:avLst>
          </a:prstGeom>
          <a:solidFill>
            <a:srgbClr val="1A2130"/>
          </a:solidFill>
          <a:ln w="15240">
            <a:solidFill>
              <a:srgbClr val="1A2130"/>
            </a:solidFill>
            <a:prstDash val="solid"/>
          </a:ln>
          <a:effectLst>
            <a:outerShdw sx="100000" sy="100000" kx="0" ky="0" algn="bl" rotWithShape="0" blurRad="5.409374798712724e+61" dist="2.8849998926467865e+61" dir="2.1158324305920003e+73">
              <a:srgbClr val="000000">
                <a:alpha val="7.999999999999999e+73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533888" y="2834640"/>
            <a:ext cx="1005840" cy="246888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89336" y="2871216"/>
            <a:ext cx="694944" cy="73152"/>
          </a:xfrm>
          <a:prstGeom prst="roundRect">
            <a:avLst>
              <a:gd name="adj" fmla="val 50000"/>
            </a:avLst>
          </a:prstGeom>
          <a:solidFill>
            <a:srgbClr val="2B2F36"/>
          </a:solidFill>
          <a:ln w="12700">
            <a:solidFill>
              <a:srgbClr val="2B2F3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25912" y="5449824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280"/>
                </a:solidFill>
              </a:rPr>
              <a:t>mobile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8394192" y="2907792"/>
            <a:ext cx="1627632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94192" y="3182112"/>
            <a:ext cx="1627632" cy="493776"/>
          </a:xfrm>
          <a:prstGeom prst="rect">
            <a:avLst/>
          </a:prstGeom>
          <a:solidFill>
            <a:srgbClr val="F0F0F0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3803904"/>
            <a:ext cx="749808" cy="384048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17152" y="3803904"/>
            <a:ext cx="749808" cy="384048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94192" y="4315968"/>
            <a:ext cx="749808" cy="384048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17152" y="4315968"/>
            <a:ext cx="749808" cy="384048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70464" y="2907792"/>
            <a:ext cx="896112" cy="146304"/>
          </a:xfrm>
          <a:prstGeom prst="rect">
            <a:avLst/>
          </a:prstGeom>
          <a:solidFill>
            <a:srgbClr val="F7F7F7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70464" y="3127248"/>
            <a:ext cx="896112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70464" y="3584448"/>
            <a:ext cx="896112" cy="164592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70464" y="3831336"/>
            <a:ext cx="896112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70464" y="4078224"/>
            <a:ext cx="896112" cy="164592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70464" y="4325112"/>
            <a:ext cx="896112" cy="164592"/>
          </a:xfrm>
          <a:prstGeom prst="rect">
            <a:avLst/>
          </a:prstGeom>
          <a:solidFill>
            <a:srgbClr val="F7F7F7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70464" y="4572000"/>
            <a:ext cx="896112" cy="164592"/>
          </a:xfrm>
          <a:prstGeom prst="rect">
            <a:avLst/>
          </a:prstGeom>
          <a:solidFill>
            <a:srgbClr val="FCFCF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11312" y="5733288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66760" y="566928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tablet: основные разделы остаются в верхней зоне, карточки уходят в 2 колонки</a:t>
            </a:r>
            <a:endParaRPr lang="en-US" sz="930" dirty="0"/>
          </a:p>
        </p:txBody>
      </p:sp>
      <p:sp>
        <p:nvSpPr>
          <p:cNvPr id="65" name="Shape 63"/>
          <p:cNvSpPr/>
          <p:nvPr/>
        </p:nvSpPr>
        <p:spPr>
          <a:xfrm>
            <a:off x="8211312" y="6080760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66760" y="601675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mobile: меню становится аккордеоном, ключевой CTA остаётся сверху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8211312" y="6428232"/>
            <a:ext cx="91440" cy="91440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66760" y="636422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 подписки, новости и карта офисов не исчезают, а перестраиваются вертикально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Финальная визуализация: главная страница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Ключевой экран сочетает продуктовую подачу, сервисность и взрослую технологичную эстетику.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19072"/>
            <a:ext cx="10789920" cy="4892040"/>
          </a:xfrm>
          <a:prstGeom prst="roundRect">
            <a:avLst>
              <a:gd name="adj" fmla="val 4112"/>
            </a:avLst>
          </a:prstGeom>
          <a:solidFill>
            <a:srgbClr val="FCFCFB"/>
          </a:solidFill>
          <a:ln w="12700">
            <a:solidFill>
              <a:srgbClr val="DDD8D1"/>
            </a:solidFill>
            <a:prstDash val="solid"/>
          </a:ln>
          <a:effectLst>
            <a:outerShdw sx="100000" sy="100000" kx="0" ky="0" algn="bl" rotWithShape="0" blurRad="6.2938093720335e+24" dist="3.3566983317512e+24" dir="2.09952e+30">
              <a:srgbClr val="000000">
                <a:alpha val="1.6e+2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19072"/>
            <a:ext cx="10789920" cy="329184"/>
          </a:xfrm>
          <a:prstGeom prst="rect">
            <a:avLst/>
          </a:prstGeom>
          <a:solidFill>
            <a:srgbClr val="F2F0EC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828800"/>
            <a:ext cx="73152" cy="73152"/>
          </a:xfrm>
          <a:prstGeom prst="ellipse">
            <a:avLst/>
          </a:prstGeom>
          <a:solidFill>
            <a:srgbClr val="E86B77"/>
          </a:solidFill>
          <a:ln w="12700">
            <a:solidFill>
              <a:srgbClr val="E86B7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28800"/>
            <a:ext cx="73152" cy="7315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828800"/>
            <a:ext cx="73152" cy="73152"/>
          </a:xfrm>
          <a:prstGeom prst="ellipse">
            <a:avLst/>
          </a:prstGeom>
          <a:solidFill>
            <a:srgbClr val="6ACB7F"/>
          </a:solidFill>
          <a:ln w="12700">
            <a:solidFill>
              <a:srgbClr val="6ACB7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214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D3C"/>
                </a:solidFill>
              </a:rPr>
              <a:t>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27632" y="213969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Кредиты   Карты   Инвестиции   Страхование   Путешествия   Офисы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10085832" y="211226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96144" y="217170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10387584" cy="960120"/>
          </a:xfrm>
          <a:prstGeom prst="roundRect">
            <a:avLst>
              <a:gd name="adj" fmla="val 20952"/>
            </a:avLst>
          </a:prstGeom>
          <a:solidFill>
            <a:srgbClr val="1A2130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26151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Банк для повседневных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решений и больших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планов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" y="303580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D6D7DC"/>
                </a:solidFill>
              </a:rPr>
              <a:t>Кредиты, карты, инвестиции, страхование и travel-сервисы в одной понятной системе.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124712" y="3200400"/>
            <a:ext cx="1051560" cy="201168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3241548"/>
            <a:ext cx="8686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Подобрать продукт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2286000" y="3200400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303644"/>
          </a:solidFill>
          <a:ln w="12700">
            <a:solidFill>
              <a:srgbClr val="303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3241548"/>
            <a:ext cx="6400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В кабинет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8595360" y="2651760"/>
            <a:ext cx="1042416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23376" y="2761488"/>
            <a:ext cx="437815" cy="201168"/>
          </a:xfrm>
          <a:prstGeom prst="roundRect">
            <a:avLst>
              <a:gd name="adj" fmla="val 45455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1664" y="2825496"/>
            <a:ext cx="401239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111"/>
                </a:solidFill>
              </a:rPr>
              <a:t>КАРТА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8723376" y="299008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Карта с кешбеком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723376" y="314553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до 10%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в категориях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9784080" y="2651760"/>
            <a:ext cx="1042416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12096" y="2761488"/>
            <a:ext cx="437815" cy="201168"/>
          </a:xfrm>
          <a:prstGeom prst="roundRect">
            <a:avLst>
              <a:gd name="adj" fmla="val 45455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0384" y="2825496"/>
            <a:ext cx="401239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111"/>
                </a:solidFill>
              </a:rPr>
              <a:t>TRAVEL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9912096" y="299008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Travel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9912096" y="314553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билеты, отели,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туры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950976" y="3547872"/>
            <a:ext cx="10314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111"/>
                </a:solidFill>
              </a:rPr>
              <a:t>Мы изменились, чтобы сайт работал как сервис для жизни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50976" y="3712464"/>
            <a:ext cx="3279648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3840480"/>
            <a:ext cx="3236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B2F36"/>
                </a:solidFill>
              </a:rPr>
              <a:t>Продукты видно сразу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309872" y="3712464"/>
            <a:ext cx="3279648" cy="384048"/>
          </a:xfrm>
          <a:prstGeom prst="roundRect">
            <a:avLst>
              <a:gd name="adj" fmla="val 33333"/>
            </a:avLst>
          </a:prstGeom>
          <a:solidFill>
            <a:srgbClr val="EEF3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19600" y="3840480"/>
            <a:ext cx="3236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B2F36"/>
                </a:solidFill>
              </a:rPr>
              <a:t>Навигация проще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668768" y="3712464"/>
            <a:ext cx="3279648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8496" y="3840480"/>
            <a:ext cx="32369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B2F36"/>
                </a:solidFill>
              </a:rPr>
              <a:t>Сервисы собраны в одном месте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950976" y="422452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111"/>
                </a:solidFill>
              </a:rPr>
              <a:t>Популярные продукты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950976" y="4389120"/>
            <a:ext cx="2455164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8992" y="4498848"/>
            <a:ext cx="658368" cy="201168"/>
          </a:xfrm>
          <a:prstGeom prst="roundRect">
            <a:avLst>
              <a:gd name="adj" fmla="val 45455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4562856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</a:rPr>
              <a:t>КРЕДИТ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1078992" y="4727448"/>
            <a:ext cx="2199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Кредит наличными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078992" y="4882896"/>
            <a:ext cx="21991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до 3 млн руб.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515868" y="4389120"/>
            <a:ext cx="2455164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43884" y="4498848"/>
            <a:ext cx="658368" cy="201168"/>
          </a:xfrm>
          <a:prstGeom prst="roundRect">
            <a:avLst>
              <a:gd name="adj" fmla="val 45455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62172" y="4562856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</a:rPr>
              <a:t>КАРТА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3643884" y="4727448"/>
            <a:ext cx="2199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Дебетовая карта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3643884" y="4882896"/>
            <a:ext cx="21991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кешбек и накопления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6080760" y="4389120"/>
            <a:ext cx="2455164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08776" y="4498848"/>
            <a:ext cx="658368" cy="201168"/>
          </a:xfrm>
          <a:prstGeom prst="roundRect">
            <a:avLst>
              <a:gd name="adj" fmla="val 45455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27064" y="4562856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</a:rPr>
              <a:t>КАРТА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6208776" y="4727448"/>
            <a:ext cx="2199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Кредитная карта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208776" y="4882896"/>
            <a:ext cx="21991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бесплатное обслуживание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8645652" y="4389120"/>
            <a:ext cx="2455164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3668" y="4498848"/>
            <a:ext cx="658368" cy="201168"/>
          </a:xfrm>
          <a:prstGeom prst="roundRect">
            <a:avLst>
              <a:gd name="adj" fmla="val 45455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91956" y="4562856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</a:rPr>
              <a:t>ИНВЕСТ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8773668" y="4727448"/>
            <a:ext cx="2199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11111"/>
                </a:solidFill>
              </a:rPr>
              <a:t>Инвестиции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8773668" y="4882896"/>
            <a:ext cx="21991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стратегии и бумаги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950976" y="512064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111"/>
                </a:solidFill>
              </a:rPr>
              <a:t>Сценарии выбора и обслуживания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950976" y="5285232"/>
            <a:ext cx="5897514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39930" y="5285232"/>
            <a:ext cx="4179174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7280" y="5394960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Кредитный калькулятор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1097280" y="5577840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Сумма кредита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1097280" y="5724144"/>
            <a:ext cx="2148840" cy="0"/>
          </a:xfrm>
          <a:prstGeom prst="line">
            <a:avLst/>
          </a:prstGeom>
          <a:noFill/>
          <a:ln w="12700">
            <a:solidFill>
              <a:srgbClr val="C8CCD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" y="5724144"/>
            <a:ext cx="1280160" cy="0"/>
          </a:xfrm>
          <a:prstGeom prst="line">
            <a:avLst/>
          </a:prstGeom>
          <a:noFill/>
          <a:ln w="25400">
            <a:solidFill>
              <a:srgbClr val="D72D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04288" y="5660136"/>
            <a:ext cx="128016" cy="128016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97280" y="5779008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111"/>
                </a:solidFill>
              </a:rPr>
              <a:t>170 000 ₽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96312" y="55412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11111"/>
                </a:solidFill>
              </a:rPr>
              <a:t>Платёж: 8 470 ₽ / мес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2560320" y="5742432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51760" y="5774436"/>
            <a:ext cx="640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Получить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7086234" y="539496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111"/>
                </a:solidFill>
              </a:rPr>
              <a:t>Офисы и банкоматы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7086234" y="5541264"/>
            <a:ext cx="3941430" cy="256032"/>
          </a:xfrm>
          <a:prstGeom prst="rect">
            <a:avLst/>
          </a:prstGeom>
          <a:solidFill>
            <a:srgbClr val="F7F8FB"/>
          </a:solidFill>
          <a:ln w="12700">
            <a:solidFill>
              <a:srgbClr val="D4D8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41098" y="5605272"/>
            <a:ext cx="3831702" cy="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41098" y="5687568"/>
            <a:ext cx="3831702" cy="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41098" y="5769864"/>
            <a:ext cx="3831702" cy="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86818" y="5550408"/>
            <a:ext cx="0" cy="22860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61138" y="5550408"/>
            <a:ext cx="0" cy="22860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35458" y="5550408"/>
            <a:ext cx="0" cy="22860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09778" y="5550408"/>
            <a:ext cx="0" cy="228600"/>
          </a:xfrm>
          <a:prstGeom prst="line">
            <a:avLst/>
          </a:prstGeom>
          <a:noFill/>
          <a:ln w="7620">
            <a:solidFill>
              <a:srgbClr val="E3E6E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55068" y="5683910"/>
            <a:ext cx="73152" cy="73152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93980" y="5793638"/>
            <a:ext cx="73152" cy="73152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01218" y="5640019"/>
            <a:ext cx="73152" cy="73152"/>
          </a:xfrm>
          <a:prstGeom prst="ellipse">
            <a:avLst/>
          </a:prstGeom>
          <a:solidFill>
            <a:srgbClr val="D72D3C"/>
          </a:solidFill>
          <a:ln w="12700">
            <a:solidFill>
              <a:srgbClr val="D72D3C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50976" y="5998464"/>
            <a:ext cx="6089904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32320" y="5998464"/>
            <a:ext cx="3968496" cy="384048"/>
          </a:xfrm>
          <a:prstGeom prst="roundRect">
            <a:avLst>
              <a:gd name="adj" fmla="val 33333"/>
            </a:avLst>
          </a:prstGeom>
          <a:solidFill>
            <a:srgbClr val="FDECE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97280" y="6131052"/>
            <a:ext cx="1554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B2F36"/>
                </a:solidFill>
              </a:rPr>
              <a:t>Новости / экспертный контент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7242048" y="6131052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A81424"/>
                </a:solidFill>
              </a:rPr>
              <a:t>Подписка на специальные предложения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914400" y="6373368"/>
            <a:ext cx="10387584" cy="109728"/>
          </a:xfrm>
          <a:prstGeom prst="roundRect">
            <a:avLst>
              <a:gd name="adj" fmla="val 50000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Финальная визуализация: раскрытое меню, tablet и mobile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визуальный язык работает на трёх устройствах: от подробного mega-menu до компактного мобильного сценария.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6903720" cy="3566160"/>
          </a:xfrm>
          <a:prstGeom prst="roundRect">
            <a:avLst>
              <a:gd name="adj" fmla="val 5641"/>
            </a:avLst>
          </a:prstGeom>
          <a:solidFill>
            <a:srgbClr val="FCFCFB"/>
          </a:solidFill>
          <a:ln w="12700">
            <a:solidFill>
              <a:srgbClr val="DDD8D1"/>
            </a:solidFill>
            <a:prstDash val="solid"/>
          </a:ln>
          <a:effectLst>
            <a:outerShdw sx="100000" sy="100000" kx="0" ky="0" algn="bl" rotWithShape="0" blurRad="7.993137902482545e+28" dist="4.2630068813240235e+28" dir="1.259712e+35">
              <a:srgbClr val="000000">
                <a:alpha val="1.6e+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83080"/>
            <a:ext cx="6903720" cy="329184"/>
          </a:xfrm>
          <a:prstGeom prst="rect">
            <a:avLst/>
          </a:prstGeom>
          <a:solidFill>
            <a:srgbClr val="F2F0EC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892808"/>
            <a:ext cx="73152" cy="73152"/>
          </a:xfrm>
          <a:prstGeom prst="ellipse">
            <a:avLst/>
          </a:prstGeom>
          <a:solidFill>
            <a:srgbClr val="E86B77"/>
          </a:solidFill>
          <a:ln w="12700">
            <a:solidFill>
              <a:srgbClr val="E86B7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92808"/>
            <a:ext cx="73152" cy="7315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892808"/>
            <a:ext cx="73152" cy="73152"/>
          </a:xfrm>
          <a:prstGeom prst="ellipse">
            <a:avLst/>
          </a:prstGeom>
          <a:solidFill>
            <a:srgbClr val="6ACB7F"/>
          </a:solidFill>
          <a:ln w="12700">
            <a:solidFill>
              <a:srgbClr val="6ACB7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865376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rsb.ru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877824" y="21671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D3C"/>
                </a:solidFill>
              </a:rPr>
              <a:t>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9344" y="2185416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Кредиты   Карты   Инвестиции   Страхование   Путешествия   Офисы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217920" y="2157984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21742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Войти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2496312"/>
            <a:ext cx="6501384" cy="2633472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.0151285136152831e+33" dist="5.4140187392815096e+32" dir="7.558272e+39">
              <a:srgbClr val="000000">
                <a:alpha val="1.6e+3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8992" y="2734056"/>
            <a:ext cx="1485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Карты и платежи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8992" y="3008376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Дебетовые карты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078992" y="3227832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Кредитные карты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1078992" y="3447288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Платежи и переводы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078992" y="3666744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RS Cashback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638044" y="2734056"/>
            <a:ext cx="1485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Кредиты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38044" y="3008376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Кредит наличными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2638044" y="3227832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Под залог недвижимости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638044" y="3447288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Кредитный калькулятор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638044" y="3666744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Рефинансирование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197096" y="2734056"/>
            <a:ext cx="1485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Инвестиции и накопления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97096" y="3008376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Накопительные счета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197096" y="3227832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Вклады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4197096" y="3447288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Стратегии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197096" y="3666744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Ценные бумаги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756148" y="2734056"/>
            <a:ext cx="1485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Страхование и travel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56148" y="3008376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Страхование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756148" y="3227832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Билеты и отели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756148" y="3447288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Туры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756148" y="3666744"/>
            <a:ext cx="14401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B2F36"/>
                </a:solidFill>
              </a:rPr>
              <a:t>Привилегии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5513832" y="2697480"/>
            <a:ext cx="1600200" cy="1316736"/>
          </a:xfrm>
          <a:prstGeom prst="roundRect">
            <a:avLst>
              <a:gd name="adj" fmla="val 13889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0136" y="266090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51576" y="27066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81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5660136" y="2953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Сценарий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для поездки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5660136" y="33375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7DC"/>
                </a:solidFill>
              </a:rPr>
              <a:t>Карта + travel + страховка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660136" y="355701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9864" y="3598164"/>
            <a:ext cx="69494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Подобрать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918704" y="1938528"/>
            <a:ext cx="2148840" cy="4526280"/>
          </a:xfrm>
          <a:prstGeom prst="roundRect">
            <a:avLst>
              <a:gd name="adj" fmla="val 9362"/>
            </a:avLst>
          </a:prstGeom>
          <a:solidFill>
            <a:srgbClr val="1A2130"/>
          </a:solidFill>
          <a:ln w="15240">
            <a:solidFill>
              <a:srgbClr val="1A2130"/>
            </a:solidFill>
            <a:prstDash val="solid"/>
          </a:ln>
          <a:effectLst>
            <a:outerShdw sx="100000" sy="100000" kx="0" ky="0" algn="bl" rotWithShape="0" blurRad="6.86990599436516e+65" dist="3.6639498636614186e+65" dir="1.2694994583552002e+78">
              <a:srgbClr val="000000">
                <a:alpha val="7.999999999999998e+78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10144" y="2029968"/>
            <a:ext cx="1965960" cy="434340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74736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2D3C"/>
                </a:solidFill>
              </a:rPr>
              <a:t>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95360" y="21762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B2F36"/>
                </a:solidFill>
              </a:rPr>
              <a:t>Кредиты  Карты  Инвестиции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9015984" y="212140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0" y="2162556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Войти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8119872" y="2414016"/>
            <a:ext cx="1746504" cy="822960"/>
          </a:xfrm>
          <a:prstGeom prst="roundRect">
            <a:avLst>
              <a:gd name="adj" fmla="val 17778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84464" y="2615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Банк для повседневных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решений и планов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284464" y="2999232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75904" y="3035808"/>
            <a:ext cx="6400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Подобрать</a:t>
            </a:r>
            <a:endParaRPr lang="en-US" sz="640" dirty="0"/>
          </a:p>
        </p:txBody>
      </p:sp>
      <p:sp>
        <p:nvSpPr>
          <p:cNvPr id="55" name="Shape 53"/>
          <p:cNvSpPr/>
          <p:nvPr/>
        </p:nvSpPr>
        <p:spPr>
          <a:xfrm>
            <a:off x="8119872" y="3383280"/>
            <a:ext cx="818388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3493008"/>
            <a:ext cx="438912" cy="201168"/>
          </a:xfrm>
          <a:prstGeom prst="roundRect">
            <a:avLst>
              <a:gd name="adj" fmla="val 45455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3749040"/>
            <a:ext cx="6355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11111"/>
                </a:solidFill>
              </a:rPr>
              <a:t>Кредит наличными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9047988" y="3383280"/>
            <a:ext cx="818388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57716" y="3493008"/>
            <a:ext cx="438912" cy="201168"/>
          </a:xfrm>
          <a:prstGeom prst="roundRect">
            <a:avLst>
              <a:gd name="adj" fmla="val 45455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57716" y="3749040"/>
            <a:ext cx="6355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11111"/>
                </a:solidFill>
              </a:rPr>
              <a:t>Карта с кешбеком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8119872" y="4078224"/>
            <a:ext cx="818388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0" y="4187952"/>
            <a:ext cx="438912" cy="201168"/>
          </a:xfrm>
          <a:prstGeom prst="roundRect">
            <a:avLst>
              <a:gd name="adj" fmla="val 45455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0" y="4443984"/>
            <a:ext cx="6355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11111"/>
                </a:solidFill>
              </a:rPr>
              <a:t>Инвестиции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9047988" y="4078224"/>
            <a:ext cx="818388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57716" y="4187952"/>
            <a:ext cx="438912" cy="201168"/>
          </a:xfrm>
          <a:prstGeom prst="roundRect">
            <a:avLst>
              <a:gd name="adj" fmla="val 45455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57716" y="4443984"/>
            <a:ext cx="6355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11111"/>
                </a:solidFill>
              </a:rPr>
              <a:t>Travel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8119872" y="5678424"/>
            <a:ext cx="1746504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02752" y="5934456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F36"/>
                </a:solidFill>
              </a:rPr>
              <a:t>Калькулятор + карта офисов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314432" y="1938528"/>
            <a:ext cx="1353312" cy="4526280"/>
          </a:xfrm>
          <a:prstGeom prst="roundRect">
            <a:avLst>
              <a:gd name="adj" fmla="val 16216"/>
            </a:avLst>
          </a:prstGeom>
          <a:solidFill>
            <a:srgbClr val="1A2130"/>
          </a:solidFill>
          <a:ln w="15240">
            <a:solidFill>
              <a:srgbClr val="1A2130"/>
            </a:solidFill>
            <a:prstDash val="solid"/>
          </a:ln>
          <a:effectLst>
            <a:outerShdw sx="100000" sy="100000" kx="0" ky="0" algn="bl" rotWithShape="0" blurRad="8.724780612843754e+69" dist="4.653216326850002e+69" dir="7.616996750131201e+82">
              <a:srgbClr val="000000">
                <a:alpha val="7.999999999999998e+83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0405872" y="2029968"/>
            <a:ext cx="1170432" cy="4343400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43616" y="2066544"/>
            <a:ext cx="694944" cy="73152"/>
          </a:xfrm>
          <a:prstGeom prst="roundRect">
            <a:avLst>
              <a:gd name="adj" fmla="val 50000"/>
            </a:avLst>
          </a:prstGeom>
          <a:solidFill>
            <a:srgbClr val="2B2F36"/>
          </a:solidFill>
          <a:ln w="12700">
            <a:solidFill>
              <a:srgbClr val="2B2F36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497312" y="217627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72D3C"/>
                </a:solidFill>
              </a:rPr>
              <a:t>RS</a:t>
            </a:r>
            <a:endParaRPr lang="en-US" sz="860" dirty="0"/>
          </a:p>
        </p:txBody>
      </p:sp>
      <p:sp>
        <p:nvSpPr>
          <p:cNvPr id="73" name="Shape 71"/>
          <p:cNvSpPr/>
          <p:nvPr/>
        </p:nvSpPr>
        <p:spPr>
          <a:xfrm>
            <a:off x="11100816" y="2139696"/>
            <a:ext cx="310896" cy="164592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137392" y="2171700"/>
            <a:ext cx="23774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Войти</a:t>
            </a:r>
            <a:endParaRPr lang="en-US" sz="560" dirty="0"/>
          </a:p>
        </p:txBody>
      </p:sp>
      <p:sp>
        <p:nvSpPr>
          <p:cNvPr id="75" name="Shape 73"/>
          <p:cNvSpPr/>
          <p:nvPr/>
        </p:nvSpPr>
        <p:spPr>
          <a:xfrm>
            <a:off x="10460736" y="2414016"/>
            <a:ext cx="1060704" cy="530352"/>
          </a:xfrm>
          <a:prstGeom prst="roundRect">
            <a:avLst>
              <a:gd name="adj" fmla="val 24138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52176" y="256032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Банк для</a:t>
            </a:r>
            <a:endParaRPr lang="en-US" sz="1030" dirty="0"/>
          </a:p>
          <a:p>
            <a:pPr algn="l"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активной жизни</a:t>
            </a:r>
            <a:endParaRPr lang="en-US" sz="1030" dirty="0"/>
          </a:p>
        </p:txBody>
      </p:sp>
      <p:sp>
        <p:nvSpPr>
          <p:cNvPr id="77" name="Shape 75"/>
          <p:cNvSpPr/>
          <p:nvPr/>
        </p:nvSpPr>
        <p:spPr>
          <a:xfrm>
            <a:off x="10552176" y="2834640"/>
            <a:ext cx="530352" cy="146304"/>
          </a:xfrm>
          <a:prstGeom prst="roundRect">
            <a:avLst>
              <a:gd name="adj" fmla="val 50000"/>
            </a:avLst>
          </a:prstGeom>
          <a:solidFill>
            <a:srgbClr val="D72D3C"/>
          </a:solidFill>
          <a:ln w="12700">
            <a:solidFill>
              <a:srgbClr val="D72D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25328" y="2862072"/>
            <a:ext cx="38404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</a:rPr>
              <a:t>Подобрать</a:t>
            </a:r>
            <a:endParaRPr lang="en-US" sz="540" dirty="0"/>
          </a:p>
        </p:txBody>
      </p:sp>
      <p:sp>
        <p:nvSpPr>
          <p:cNvPr id="79" name="Shape 77"/>
          <p:cNvSpPr/>
          <p:nvPr/>
        </p:nvSpPr>
        <p:spPr>
          <a:xfrm>
            <a:off x="10460736" y="3090672"/>
            <a:ext cx="106070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70464" y="314553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B2F36"/>
                </a:solidFill>
              </a:rPr>
              <a:t>Карты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1247120" y="31318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+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460736" y="3346704"/>
            <a:ext cx="1060704" cy="201168"/>
          </a:xfrm>
          <a:prstGeom prst="roundRect">
            <a:avLst>
              <a:gd name="adj" fmla="val 45455"/>
            </a:avLst>
          </a:prstGeom>
          <a:solidFill>
            <a:srgbClr val="FAFAFA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70464" y="340156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B2F36"/>
                </a:solidFill>
              </a:rPr>
              <a:t>Кредиты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247120" y="338785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+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460736" y="3602736"/>
            <a:ext cx="106070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70464" y="365760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B2F36"/>
                </a:solidFill>
              </a:rPr>
              <a:t>Инвестиции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1247120" y="364388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+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0460736" y="3858768"/>
            <a:ext cx="1060704" cy="201168"/>
          </a:xfrm>
          <a:prstGeom prst="roundRect">
            <a:avLst>
              <a:gd name="adj" fmla="val 45455"/>
            </a:avLst>
          </a:prstGeom>
          <a:solidFill>
            <a:srgbClr val="FAFAFA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570464" y="39136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B2F36"/>
                </a:solidFill>
              </a:rPr>
              <a:t>Страхование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247120" y="3899916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+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460736" y="4114800"/>
            <a:ext cx="106070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70464" y="416966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B2F36"/>
                </a:solidFill>
              </a:rPr>
              <a:t>Travel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1247120" y="415594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+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0460736" y="4370832"/>
            <a:ext cx="1060704" cy="201168"/>
          </a:xfrm>
          <a:prstGeom prst="roundRect">
            <a:avLst>
              <a:gd name="adj" fmla="val 45455"/>
            </a:avLst>
          </a:prstGeom>
          <a:solidFill>
            <a:srgbClr val="FAFAFA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570464" y="44256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B2F36"/>
                </a:solidFill>
              </a:rPr>
              <a:t>Офисы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1247120" y="441198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+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0460736" y="5934456"/>
            <a:ext cx="1060704" cy="310896"/>
          </a:xfrm>
          <a:prstGeom prst="roundRect">
            <a:avLst>
              <a:gd name="adj" fmla="val 29412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570464" y="603504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A81424"/>
                </a:solidFill>
              </a:rPr>
              <a:t>Подписка на спецпредложения</a:t>
            </a:r>
            <a:endParaRPr lang="en-US" sz="630" dirty="0"/>
          </a:p>
        </p:txBody>
      </p:sp>
      <p:sp>
        <p:nvSpPr>
          <p:cNvPr id="99" name="Text 97"/>
          <p:cNvSpPr/>
          <p:nvPr/>
        </p:nvSpPr>
        <p:spPr>
          <a:xfrm>
            <a:off x="2788920" y="553212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desktop mega-menu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8449056" y="6565392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tablet home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10168128" y="6565392"/>
            <a:ext cx="16642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mobile navigation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91440" cy="6345936"/>
          </a:xfrm>
          <a:prstGeom prst="rect">
            <a:avLst/>
          </a:prstGeom>
          <a:solidFill>
            <a:srgbClr val="D72D3C"/>
          </a:solidFill>
          <a:ln w="12700">
            <a:solidFill>
              <a:srgbClr val="F6F5F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2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БАНК РУССКИЙ СТАНДАРТ - КОНЦЕПЦИЯ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6766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Стадии проекта и самооценка по критериям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161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Эта структура уже закрывает исследование, проектирование, прототипы, визуальную концепцию и адаптивную логику.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56848" y="347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3794760" cy="44805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.1080471378311567e+74" dist="5.909584735099503e+73" dir="4.57019805007872e+87">
              <a:srgbClr val="000000">
                <a:alpha val="7.999999999999998e+8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81728" y="1755648"/>
            <a:ext cx="685800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sx="100000" sy="100000" kx="0" ky="0" algn="bl" rotWithShape="0" blurRad="1.407219865045569e+78" dist="7.505172613576369e+77" dir="2.742118830047232e+92">
              <a:srgbClr val="000000">
                <a:alpha val="7.9999999999999985e+9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Стадии работы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" y="2697480"/>
            <a:ext cx="327355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825496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889504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B2F36"/>
                </a:solidFill>
              </a:rPr>
              <a:t>01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517904" y="285292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B2F36"/>
                </a:solidFill>
              </a:rPr>
              <a:t>Аудит и конкурентный обзор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96112" y="3355848"/>
            <a:ext cx="3273552" cy="475488"/>
          </a:xfrm>
          <a:prstGeom prst="roundRect">
            <a:avLst>
              <a:gd name="adj" fmla="val 23077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3483864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547872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B2F36"/>
                </a:solidFill>
              </a:rPr>
              <a:t>02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517904" y="3511296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B2F36"/>
                </a:solidFill>
              </a:rPr>
              <a:t>Аудитория и JTBD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96112" y="4014216"/>
            <a:ext cx="327355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4142232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F4EDE5"/>
          </a:solidFill>
          <a:ln w="12700">
            <a:solidFill>
              <a:srgbClr val="F4E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206240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B2F36"/>
                </a:solidFill>
              </a:rPr>
              <a:t>03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517904" y="416966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B2F36"/>
                </a:solidFill>
              </a:rPr>
              <a:t>IA и раскрытое меню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96112" y="4672584"/>
            <a:ext cx="3273552" cy="475488"/>
          </a:xfrm>
          <a:prstGeom prst="roundRect">
            <a:avLst>
              <a:gd name="adj" fmla="val 23077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4800600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4864608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B2F36"/>
                </a:solidFill>
              </a:rPr>
              <a:t>04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517904" y="48280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B2F36"/>
                </a:solidFill>
              </a:rPr>
              <a:t>Прототипы desktop + adaptive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96112" y="5330952"/>
            <a:ext cx="327355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5458968"/>
            <a:ext cx="329184" cy="21945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5522976"/>
            <a:ext cx="16459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B2F36"/>
                </a:solidFill>
              </a:rPr>
              <a:t>05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517904" y="548640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B2F36"/>
                </a:solidFill>
              </a:rPr>
              <a:t>Финальная визуализация и презентация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919472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САМООЦЕНКА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22677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Проверка по критериям задания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19472" y="2697480"/>
            <a:ext cx="42062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2697480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21624" y="2697480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280720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1424"/>
                </a:solidFill>
              </a:rPr>
              <a:t>К1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49824" y="279806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2B2F36"/>
                </a:solidFill>
              </a:rPr>
              <a:t>Макеты собраны в Figma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8531352" y="2798064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11111"/>
                </a:solidFill>
              </a:rPr>
              <a:t>0/1 в этой среде; 1/1 после переноса экранов в Figma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919472" y="3118104"/>
            <a:ext cx="420624" cy="329184"/>
          </a:xfrm>
          <a:prstGeom prst="roundRect">
            <a:avLst>
              <a:gd name="adj" fmla="val 22222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3118104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21624" y="3118104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22783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1424"/>
                </a:solidFill>
              </a:rPr>
              <a:t>К2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9824" y="321868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2B2F36"/>
                </a:solidFill>
              </a:rPr>
              <a:t>Оформленная презентация со стадиями проекта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8531352" y="3218688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11111"/>
                </a:solidFill>
              </a:rPr>
              <a:t>2/2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4919472" y="3538728"/>
            <a:ext cx="42062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3538728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21624" y="3538728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64845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1424"/>
                </a:solidFill>
              </a:rPr>
              <a:t>К3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49824" y="363931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2B2F36"/>
                </a:solidFill>
              </a:rPr>
              <a:t>Адаптивные версии для смартфона и планшета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8531352" y="363931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11111"/>
                </a:solidFill>
              </a:rPr>
              <a:t>2/2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919472" y="3959352"/>
            <a:ext cx="420624" cy="329184"/>
          </a:xfrm>
          <a:prstGeom prst="roundRect">
            <a:avLst>
              <a:gd name="adj" fmla="val 22222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0" y="3959352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21624" y="3959352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FCFBF9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47488" y="406908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1424"/>
                </a:solidFill>
              </a:rPr>
              <a:t>К4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449824" y="405993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2B2F36"/>
                </a:solidFill>
              </a:rPr>
              <a:t>Прототип главной и раскрытого меню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8531352" y="4059936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11111"/>
                </a:solidFill>
              </a:rPr>
              <a:t>4/4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4919472" y="4379976"/>
            <a:ext cx="42062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0" y="4379976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21624" y="4379976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47488" y="448970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1424"/>
                </a:solidFill>
              </a:rPr>
              <a:t>К5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449824" y="4480560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2B2F36"/>
                </a:solidFill>
              </a:rPr>
              <a:t>Финальная визуализация главной и меню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8531352" y="4480560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11111"/>
                </a:solidFill>
              </a:rPr>
              <a:t>2/2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4919472" y="5285232"/>
            <a:ext cx="6382512" cy="694944"/>
          </a:xfrm>
          <a:prstGeom prst="roundRect">
            <a:avLst>
              <a:gd name="adj" fmla="val 18421"/>
            </a:avLst>
          </a:prstGeom>
          <a:solidFill>
            <a:srgbClr val="1A2130"/>
          </a:solidFill>
          <a:ln w="12700">
            <a:solidFill>
              <a:srgbClr val="1A213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38928" y="5504688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8CF"/>
                </a:solidFill>
              </a:rPr>
              <a:t>Честная оценка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138928" y="5733288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В составе приложенных материалов проект готов на 10/11: всё, кроме финальной сборки экранов в Figma. После переноса этого решения в Figma задание закрывается на 11/11.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Русский Стандарт — концепция корпоративного сайта</dc:title>
  <dc:subject>Концепция редизайна сайта Банка Русский Стандарт</dc:subject>
  <dc:creator>OpenAI</dc:creator>
  <cp:lastModifiedBy>OpenAI</cp:lastModifiedBy>
  <cp:revision>1</cp:revision>
  <dcterms:created xsi:type="dcterms:W3CDTF">2026-03-08T08:35:09Z</dcterms:created>
  <dcterms:modified xsi:type="dcterms:W3CDTF">2026-03-08T08:35:09Z</dcterms:modified>
</cp:coreProperties>
</file>